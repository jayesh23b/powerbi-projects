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70" r:id="rId11"/>
    <p:sldId id="268" r:id="rId12"/>
    <p:sldId id="271" r:id="rId13"/>
    <p:sldId id="272" r:id="rId14"/>
    <p:sldId id="273" r:id="rId15"/>
    <p:sldId id="274" r:id="rId16"/>
    <p:sldId id="275" r:id="rId17"/>
    <p:sldId id="276" r:id="rId18"/>
    <p:sldId id="277" r:id="rId19"/>
    <p:sldId id="27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8F7C3-CA41-401A-9233-A28422331E73}" v="194" dt="2026-02-28T05:00:33.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771" autoAdjust="0"/>
  </p:normalViewPr>
  <p:slideViewPr>
    <p:cSldViewPr snapToGrid="0">
      <p:cViewPr varScale="1">
        <p:scale>
          <a:sx n="84" d="100"/>
          <a:sy n="84" d="100"/>
        </p:scale>
        <p:origin x="610" y="67"/>
      </p:cViewPr>
      <p:guideLst/>
    </p:cSldViewPr>
  </p:slideViewPr>
  <p:outlineViewPr>
    <p:cViewPr>
      <p:scale>
        <a:sx n="33" d="100"/>
        <a:sy n="33" d="100"/>
      </p:scale>
      <p:origin x="0" y="-1112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1"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189" indent="0" algn="ctr">
              <a:buNone/>
              <a:defRPr sz="24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BE8E88-783A-430F-B86F-A1B2DF474AED}"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44D71-DD49-47BA-871A-ABD5D05F263B}"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847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BE8E88-783A-430F-B86F-A1B2DF474AED}"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321266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BE8E88-783A-430F-B86F-A1B2DF474AED}"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44D71-DD49-47BA-871A-ABD5D05F263B}"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272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BE8E88-783A-430F-B86F-A1B2DF474AED}"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195372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BE8E88-783A-430F-B86F-A1B2DF474AED}"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3049121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BE8E88-783A-430F-B86F-A1B2DF474AED}"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178340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ABE8E88-783A-430F-B86F-A1B2DF474AED}" type="datetimeFigureOut">
              <a:rPr lang="en-US" smtClean="0"/>
              <a:t>3/2/2026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230220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1ABE8E88-783A-430F-B86F-A1B2DF474AED}" type="datetimeFigureOut">
              <a:rPr lang="en-US" smtClean="0"/>
              <a:t>3/2/2026</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FA44D71-DD49-47BA-871A-ABD5D05F263B}" type="slidenum">
              <a:rPr lang="en-US" smtClean="0"/>
              <a:t>‹#›</a:t>
            </a:fld>
            <a:endParaRPr lang="en-US"/>
          </a:p>
        </p:txBody>
      </p:sp>
    </p:spTree>
    <p:extLst>
      <p:ext uri="{BB962C8B-B14F-4D97-AF65-F5344CB8AC3E}">
        <p14:creationId xmlns:p14="http://schemas.microsoft.com/office/powerpoint/2010/main" val="3393498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BE8E88-783A-430F-B86F-A1B2DF474AED}"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12216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BE8E88-783A-430F-B86F-A1B2DF474AED}"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945464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BE8E88-783A-430F-B86F-A1B2DF474AED}"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44D71-DD49-47BA-871A-ABD5D05F263B}" type="slidenum">
              <a:rPr lang="en-US" smtClean="0"/>
              <a:t>‹#›</a:t>
            </a:fld>
            <a:endParaRPr lang="en-US"/>
          </a:p>
        </p:txBody>
      </p:sp>
    </p:spTree>
    <p:extLst>
      <p:ext uri="{BB962C8B-B14F-4D97-AF65-F5344CB8AC3E}">
        <p14:creationId xmlns:p14="http://schemas.microsoft.com/office/powerpoint/2010/main" val="1385429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1ABE8E88-783A-430F-B86F-A1B2DF474AED}" type="datetimeFigureOut">
              <a:rPr lang="en-US" smtClean="0"/>
              <a:t>3/2/2026</a:t>
            </a:fld>
            <a:endParaRPr lang="en-US"/>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1">
                <a:solidFill>
                  <a:srgbClr val="FFFFFF"/>
                </a:solidFill>
              </a:defRPr>
            </a:lvl1pPr>
          </a:lstStyle>
          <a:p>
            <a:fld id="{CFA44D71-DD49-47BA-871A-ABD5D05F263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50196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377"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F26C741-BC3D-BB9E-0B81-C1ED1D1A5BDE}"/>
              </a:ext>
            </a:extLst>
          </p:cNvPr>
          <p:cNvSpPr>
            <a:spLocks noGrp="1"/>
          </p:cNvSpPr>
          <p:nvPr>
            <p:ph type="subTitle" idx="1"/>
          </p:nvPr>
        </p:nvSpPr>
        <p:spPr>
          <a:xfrm>
            <a:off x="1312333" y="4019267"/>
            <a:ext cx="10066867" cy="1430867"/>
          </a:xfrm>
        </p:spPr>
        <p:txBody>
          <a:bodyPr anchor="b">
            <a:normAutofit fontScale="47500" lnSpcReduction="20000"/>
          </a:bodyPr>
          <a:lstStyle/>
          <a:p>
            <a:r>
              <a:rPr lang="en-US" b="1" cap="none" dirty="0">
                <a:latin typeface="+mn-lt"/>
              </a:rPr>
              <a:t>			        </a:t>
            </a:r>
          </a:p>
          <a:p>
            <a:r>
              <a:rPr lang="en-US" b="1" cap="none" dirty="0">
                <a:latin typeface="+mn-lt"/>
              </a:rPr>
              <a:t>				</a:t>
            </a:r>
            <a:r>
              <a:rPr lang="en-US" sz="4200" b="1" cap="none" dirty="0">
                <a:latin typeface="+mn-lt"/>
              </a:rPr>
              <a:t>Project Overview</a:t>
            </a:r>
          </a:p>
          <a:p>
            <a:pPr algn="ctr"/>
            <a:r>
              <a:rPr lang="en-US" sz="2900" cap="none" spc="300" dirty="0">
                <a:solidFill>
                  <a:schemeClr val="tx1"/>
                </a:solidFill>
                <a:effectLst>
                  <a:outerShdw blurRad="50800" dist="38100" dir="18900000" algn="bl" rotWithShape="0">
                    <a:prstClr val="black">
                      <a:alpha val="40000"/>
                    </a:prstClr>
                  </a:outerShdw>
                </a:effectLst>
                <a:latin typeface="+mn-lt"/>
              </a:rPr>
              <a:t>This Project Focuses On Analyzing A Retail Superstore’s Sales Data Using Power BI To Convert Raw Transactional Data Into Meaningful Business Insights. The Dashboard Evaluates Overall Business Performance By Tracking Sales, Profit, Customer Behavior, And Product Performance Across Different Regions And Segments.</a:t>
            </a:r>
          </a:p>
          <a:p>
            <a:endParaRPr lang="en-US" cap="none" dirty="0">
              <a:latin typeface="+mn-lt"/>
            </a:endParaRPr>
          </a:p>
        </p:txBody>
      </p:sp>
      <p:sp>
        <p:nvSpPr>
          <p:cNvPr id="6" name="TextBox 5">
            <a:extLst>
              <a:ext uri="{FF2B5EF4-FFF2-40B4-BE49-F238E27FC236}">
                <a16:creationId xmlns:a16="http://schemas.microsoft.com/office/drawing/2014/main" id="{CB77AAEF-95F2-4183-B299-B9CE83D9B87C}"/>
              </a:ext>
            </a:extLst>
          </p:cNvPr>
          <p:cNvSpPr txBox="1"/>
          <p:nvPr/>
        </p:nvSpPr>
        <p:spPr>
          <a:xfrm>
            <a:off x="650778" y="1126836"/>
            <a:ext cx="10464800" cy="2616101"/>
          </a:xfrm>
          <a:prstGeom prst="rect">
            <a:avLst/>
          </a:prstGeom>
          <a:noFill/>
        </p:spPr>
        <p:txBody>
          <a:bodyPr wrap="square">
            <a:spAutoFit/>
          </a:bodyPr>
          <a:lstStyle/>
          <a:p>
            <a:pPr algn="ctr"/>
            <a:r>
              <a:rPr lang="en-US" sz="3600" b="1" dirty="0">
                <a:latin typeface="Algerian" panose="04020705040A02060702" pitchFamily="82" charset="0"/>
              </a:rPr>
              <a:t>	        </a:t>
            </a:r>
            <a:r>
              <a:rPr lang="en-US" sz="2800" dirty="0">
                <a:latin typeface="Algerian" panose="04020705040A02060702" pitchFamily="82" charset="0"/>
              </a:rPr>
              <a:t>Superstore Sales &amp; Customer Analytics </a:t>
            </a:r>
            <a:br>
              <a:rPr lang="en-US" sz="2800" dirty="0">
                <a:latin typeface="Algerian" panose="04020705040A02060702" pitchFamily="82" charset="0"/>
              </a:rPr>
            </a:br>
            <a:br>
              <a:rPr lang="en-US" sz="2800" b="1" dirty="0">
                <a:effectLst>
                  <a:glow rad="38100">
                    <a:schemeClr val="bg1">
                      <a:lumMod val="65000"/>
                      <a:lumOff val="35000"/>
                      <a:alpha val="50000"/>
                    </a:schemeClr>
                  </a:glow>
                </a:effectLst>
                <a:latin typeface="Algerian" panose="04020705040A02060702" pitchFamily="82" charset="0"/>
              </a:rPr>
            </a:br>
            <a:r>
              <a:rPr lang="en-US" sz="2000" b="1" dirty="0">
                <a:effectLst>
                  <a:glow rad="38100">
                    <a:schemeClr val="bg1">
                      <a:lumMod val="65000"/>
                      <a:lumOff val="35000"/>
                      <a:alpha val="50000"/>
                    </a:schemeClr>
                  </a:glow>
                </a:effectLst>
                <a:latin typeface="Montserrat" panose="00000500000000000000" pitchFamily="2" charset="0"/>
              </a:rPr>
              <a:t>              </a:t>
            </a:r>
            <a:r>
              <a:rPr lang="en-US" sz="2000" dirty="0">
                <a:effectLst>
                  <a:glow rad="38100">
                    <a:schemeClr val="bg1">
                      <a:lumMod val="65000"/>
                      <a:lumOff val="35000"/>
                      <a:alpha val="50000"/>
                    </a:schemeClr>
                  </a:glow>
                </a:effectLst>
                <a:latin typeface="Algerian" panose="04020705040A02060702" pitchFamily="82" charset="0"/>
              </a:rPr>
              <a:t>Course: Data Science[CX-144]</a:t>
            </a:r>
            <a:br>
              <a:rPr lang="en-US" sz="2000" dirty="0">
                <a:effectLst>
                  <a:glow rad="38100">
                    <a:schemeClr val="bg1">
                      <a:lumMod val="65000"/>
                      <a:lumOff val="35000"/>
                      <a:alpha val="50000"/>
                    </a:schemeClr>
                  </a:glow>
                </a:effectLst>
                <a:latin typeface="Algerian" panose="04020705040A02060702" pitchFamily="82" charset="0"/>
              </a:rPr>
            </a:br>
            <a:r>
              <a:rPr lang="en-US" sz="2000" dirty="0">
                <a:effectLst>
                  <a:glow rad="38100">
                    <a:schemeClr val="bg1">
                      <a:lumMod val="65000"/>
                      <a:lumOff val="35000"/>
                      <a:alpha val="50000"/>
                    </a:schemeClr>
                  </a:glow>
                </a:effectLst>
                <a:latin typeface="Algerian" panose="04020705040A02060702" pitchFamily="82" charset="0"/>
              </a:rPr>
              <a:t>              Student Name: Jayesh Bacchav</a:t>
            </a:r>
            <a:br>
              <a:rPr lang="en-US" sz="2000" dirty="0">
                <a:effectLst>
                  <a:glow rad="38100">
                    <a:schemeClr val="bg1">
                      <a:lumMod val="65000"/>
                      <a:lumOff val="35000"/>
                      <a:alpha val="50000"/>
                    </a:schemeClr>
                  </a:glow>
                </a:effectLst>
                <a:latin typeface="Algerian" panose="04020705040A02060702" pitchFamily="82" charset="0"/>
              </a:rPr>
            </a:br>
            <a:r>
              <a:rPr lang="en-US" sz="2000" dirty="0">
                <a:effectLst>
                  <a:glow rad="38100">
                    <a:schemeClr val="bg1">
                      <a:lumMod val="65000"/>
                      <a:lumOff val="35000"/>
                      <a:alpha val="50000"/>
                    </a:schemeClr>
                  </a:glow>
                </a:effectLst>
                <a:latin typeface="Algerian" panose="04020705040A02060702" pitchFamily="82" charset="0"/>
              </a:rPr>
              <a:t>              Institute: </a:t>
            </a:r>
            <a:r>
              <a:rPr lang="en-US" sz="2000" dirty="0" err="1">
                <a:effectLst>
                  <a:glow rad="38100">
                    <a:schemeClr val="bg1">
                      <a:lumMod val="65000"/>
                      <a:lumOff val="35000"/>
                      <a:alpha val="50000"/>
                    </a:schemeClr>
                  </a:glow>
                </a:effectLst>
                <a:latin typeface="Algerian" panose="04020705040A02060702" pitchFamily="82" charset="0"/>
              </a:rPr>
              <a:t>CoachX.Live</a:t>
            </a:r>
            <a:br>
              <a:rPr lang="en-US" sz="2000" b="1" dirty="0">
                <a:effectLst>
                  <a:glow rad="38100">
                    <a:schemeClr val="bg1">
                      <a:lumMod val="65000"/>
                      <a:lumOff val="35000"/>
                      <a:alpha val="50000"/>
                    </a:schemeClr>
                  </a:glow>
                </a:effectLst>
                <a:latin typeface="Algerian" panose="04020705040A02060702" pitchFamily="82" charset="0"/>
              </a:rPr>
            </a:br>
            <a:br>
              <a:rPr lang="en-US" sz="2000" dirty="0">
                <a:latin typeface="Algerian" panose="04020705040A02060702" pitchFamily="82" charset="0"/>
              </a:rPr>
            </a:br>
            <a:endParaRPr lang="en-US" sz="2000" dirty="0">
              <a:latin typeface="Algerian" panose="04020705040A02060702" pitchFamily="82" charset="0"/>
            </a:endParaRPr>
          </a:p>
        </p:txBody>
      </p:sp>
      <p:pic>
        <p:nvPicPr>
          <p:cNvPr id="6148" name="Picture 4" descr="Perfect design illustration of data analysis">
            <a:extLst>
              <a:ext uri="{FF2B5EF4-FFF2-40B4-BE49-F238E27FC236}">
                <a16:creationId xmlns:a16="http://schemas.microsoft.com/office/drawing/2014/main" id="{8F24953E-F253-64B9-CF90-F7F2491C3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63" y="83127"/>
            <a:ext cx="2384520" cy="20874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C17B1D3-05C4-E330-61F6-7E313DB369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9745" y="5688720"/>
            <a:ext cx="2446867" cy="646051"/>
          </a:xfrm>
          <a:prstGeom prst="rect">
            <a:avLst/>
          </a:prstGeom>
        </p:spPr>
      </p:pic>
    </p:spTree>
    <p:extLst>
      <p:ext uri="{BB962C8B-B14F-4D97-AF65-F5344CB8AC3E}">
        <p14:creationId xmlns:p14="http://schemas.microsoft.com/office/powerpoint/2010/main" val="2984486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793C-24A8-1728-D945-5BFB9CAB2519}"/>
              </a:ext>
            </a:extLst>
          </p:cNvPr>
          <p:cNvSpPr>
            <a:spLocks noGrp="1"/>
          </p:cNvSpPr>
          <p:nvPr>
            <p:ph type="title"/>
          </p:nvPr>
        </p:nvSpPr>
        <p:spPr>
          <a:xfrm>
            <a:off x="1451579" y="736787"/>
            <a:ext cx="9603275" cy="1049235"/>
          </a:xfrm>
        </p:spPr>
        <p:txBody>
          <a:bodyPr>
            <a:normAutofit/>
          </a:bodyPr>
          <a:lstStyle/>
          <a:p>
            <a:pPr algn="ctr"/>
            <a:r>
              <a:rPr lang="en-US" sz="4400" dirty="0">
                <a:latin typeface="Montserrat" panose="00000500000000000000" pitchFamily="2" charset="0"/>
              </a:rPr>
              <a:t>Introduction</a:t>
            </a:r>
          </a:p>
        </p:txBody>
      </p:sp>
      <p:sp>
        <p:nvSpPr>
          <p:cNvPr id="3" name="Content Placeholder 2">
            <a:extLst>
              <a:ext uri="{FF2B5EF4-FFF2-40B4-BE49-F238E27FC236}">
                <a16:creationId xmlns:a16="http://schemas.microsoft.com/office/drawing/2014/main" id="{5F040FF2-5677-96A8-C954-1FA3EF872E44}"/>
              </a:ext>
            </a:extLst>
          </p:cNvPr>
          <p:cNvSpPr>
            <a:spLocks noGrp="1"/>
          </p:cNvSpPr>
          <p:nvPr>
            <p:ph idx="1"/>
          </p:nvPr>
        </p:nvSpPr>
        <p:spPr/>
        <p:txBody>
          <a:bodyPr>
            <a:normAutofit/>
          </a:bodyPr>
          <a:lstStyle/>
          <a:p>
            <a:pPr marL="0" indent="0">
              <a:buNone/>
            </a:pPr>
            <a:r>
              <a:rPr lang="en-US" dirty="0">
                <a:cs typeface="Segoe UI" panose="020B0502040204020203" pitchFamily="34" charset="0"/>
              </a:rPr>
              <a:t>Retail organizations generate large amounts of transactional data through daily sales operations. However, raw data alone cannot support effective decision-making. Businesses require analytical dashboards to convert data into meaningful information.</a:t>
            </a:r>
          </a:p>
          <a:p>
            <a:pPr marL="0" indent="0">
              <a:buNone/>
            </a:pPr>
            <a:r>
              <a:rPr lang="en-US" dirty="0">
                <a:cs typeface="Segoe UI" panose="020B0502040204020203" pitchFamily="34" charset="0"/>
              </a:rPr>
              <a:t>This project focuses on analyzing retail sales data using Power BI to monitor performance, identify trends, and support business strategy through data-driven insights.</a:t>
            </a:r>
          </a:p>
          <a:p>
            <a:pPr marL="0" indent="0">
              <a:buNone/>
            </a:pPr>
            <a:r>
              <a:rPr lang="en-US" dirty="0">
                <a:cs typeface="Segoe UI" panose="020B0502040204020203" pitchFamily="34" charset="0"/>
              </a:rPr>
              <a:t>The dashboard provides a centralized platform for management to evaluate company performance across products, customers, and regions.</a:t>
            </a:r>
          </a:p>
          <a:p>
            <a:endParaRPr lang="en-US" dirty="0"/>
          </a:p>
        </p:txBody>
      </p:sp>
      <p:pic>
        <p:nvPicPr>
          <p:cNvPr id="5" name="Picture 4">
            <a:extLst>
              <a:ext uri="{FF2B5EF4-FFF2-40B4-BE49-F238E27FC236}">
                <a16:creationId xmlns:a16="http://schemas.microsoft.com/office/drawing/2014/main" id="{FCC7EE72-BFB5-17FC-03D3-92B6B180F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346" y="-1"/>
            <a:ext cx="3884763" cy="1725637"/>
          </a:xfrm>
          <a:prstGeom prst="rect">
            <a:avLst/>
          </a:prstGeom>
        </p:spPr>
      </p:pic>
    </p:spTree>
    <p:extLst>
      <p:ext uri="{BB962C8B-B14F-4D97-AF65-F5344CB8AC3E}">
        <p14:creationId xmlns:p14="http://schemas.microsoft.com/office/powerpoint/2010/main" val="302798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D9CB-00E6-EE95-0645-88CBDD654AA7}"/>
              </a:ext>
            </a:extLst>
          </p:cNvPr>
          <p:cNvSpPr>
            <a:spLocks noGrp="1"/>
          </p:cNvSpPr>
          <p:nvPr>
            <p:ph type="title"/>
          </p:nvPr>
        </p:nvSpPr>
        <p:spPr/>
        <p:txBody>
          <a:bodyPr>
            <a:normAutofit/>
          </a:bodyPr>
          <a:lstStyle/>
          <a:p>
            <a:pPr algn="ctr"/>
            <a:r>
              <a:rPr lang="en-US" sz="3600" dirty="0">
                <a:latin typeface="Montserrat" panose="00000500000000000000" pitchFamily="2" charset="0"/>
              </a:rPr>
              <a:t>PROBLEM STATEMENT</a:t>
            </a:r>
          </a:p>
        </p:txBody>
      </p:sp>
      <p:sp>
        <p:nvSpPr>
          <p:cNvPr id="3" name="Content Placeholder 2">
            <a:extLst>
              <a:ext uri="{FF2B5EF4-FFF2-40B4-BE49-F238E27FC236}">
                <a16:creationId xmlns:a16="http://schemas.microsoft.com/office/drawing/2014/main" id="{FB139184-CF87-C80E-45CD-861B97812FAD}"/>
              </a:ext>
            </a:extLst>
          </p:cNvPr>
          <p:cNvSpPr>
            <a:spLocks noGrp="1"/>
          </p:cNvSpPr>
          <p:nvPr>
            <p:ph idx="1"/>
          </p:nvPr>
        </p:nvSpPr>
        <p:spPr>
          <a:xfrm>
            <a:off x="1451580" y="1938871"/>
            <a:ext cx="9603275" cy="3527479"/>
          </a:xfrm>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company lacked a centralized reporting system to analyze sales performance. Decision makers were facing the following issues: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Unable to track sales and profit trends over time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No visibility into top-performing products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Difficulty identifying high-value customers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Inability to detect loss-making categories and regions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Manual reporting process was time-consuming</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Therefore, there was a need to develop an interactive business intelligence dashboard for real-time monitoring and analysis.</a:t>
            </a:r>
          </a:p>
          <a:p>
            <a:pPr marL="0" indent="0">
              <a:buNone/>
            </a:pPr>
            <a:endParaRPr lang="en-US" dirty="0"/>
          </a:p>
        </p:txBody>
      </p:sp>
      <p:pic>
        <p:nvPicPr>
          <p:cNvPr id="1026" name="Picture 2" descr="Man searching decision. Confused manager or entrepreneur wi">
            <a:extLst>
              <a:ext uri="{FF2B5EF4-FFF2-40B4-BE49-F238E27FC236}">
                <a16:creationId xmlns:a16="http://schemas.microsoft.com/office/drawing/2014/main" id="{547DDEBB-6283-3452-3E01-E27FB5DF0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527" y="0"/>
            <a:ext cx="2516883" cy="173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95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F004-28F3-803B-563B-3A82AD385734}"/>
              </a:ext>
            </a:extLst>
          </p:cNvPr>
          <p:cNvSpPr>
            <a:spLocks noGrp="1"/>
          </p:cNvSpPr>
          <p:nvPr>
            <p:ph type="title"/>
          </p:nvPr>
        </p:nvSpPr>
        <p:spPr/>
        <p:txBody>
          <a:bodyPr>
            <a:normAutofit/>
          </a:bodyPr>
          <a:lstStyle/>
          <a:p>
            <a:pPr algn="ctr"/>
            <a:r>
              <a:rPr lang="en-US" sz="3600" dirty="0">
                <a:latin typeface="Montserrat" panose="00000500000000000000" pitchFamily="2" charset="0"/>
              </a:rPr>
              <a:t>REQUIREMENT ANALYSIS</a:t>
            </a:r>
          </a:p>
        </p:txBody>
      </p:sp>
      <p:sp>
        <p:nvSpPr>
          <p:cNvPr id="3" name="Content Placeholder 2">
            <a:extLst>
              <a:ext uri="{FF2B5EF4-FFF2-40B4-BE49-F238E27FC236}">
                <a16:creationId xmlns:a16="http://schemas.microsoft.com/office/drawing/2014/main" id="{2CA18445-B037-9622-E679-4C790D9599F0}"/>
              </a:ext>
            </a:extLst>
          </p:cNvPr>
          <p:cNvSpPr>
            <a:spLocks noGrp="1"/>
          </p:cNvSpPr>
          <p:nvPr>
            <p:ph idx="1"/>
          </p:nvPr>
        </p:nvSpPr>
        <p:spPr>
          <a:xfrm>
            <a:off x="1451580" y="2015736"/>
            <a:ext cx="9603275" cy="3919401"/>
          </a:xfrm>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Business Requirements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business required a dashboard that could:</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Monitor overall sales and profit performance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Analyze product category contribution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Identify top customers and repeat customers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Compare regional performance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Evaluate impact of discount on profitability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Track customer purchasing behavior</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These requirements guided the design of dashboard visuals and KPIs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7170" name="Picture 2" descr="Business meeting icon vector - Flat group discussion sign">
            <a:extLst>
              <a:ext uri="{FF2B5EF4-FFF2-40B4-BE49-F238E27FC236}">
                <a16:creationId xmlns:a16="http://schemas.microsoft.com/office/drawing/2014/main" id="{6CE79A74-4295-532B-5EF6-09EA39DE1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8473" y="119299"/>
            <a:ext cx="2013527" cy="16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66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3172-9196-2A20-45F5-4523B5AB21D5}"/>
              </a:ext>
            </a:extLst>
          </p:cNvPr>
          <p:cNvSpPr>
            <a:spLocks noGrp="1"/>
          </p:cNvSpPr>
          <p:nvPr>
            <p:ph type="title"/>
          </p:nvPr>
        </p:nvSpPr>
        <p:spPr/>
        <p:txBody>
          <a:bodyPr>
            <a:normAutofit/>
          </a:bodyPr>
          <a:lstStyle/>
          <a:p>
            <a:pPr algn="ctr"/>
            <a:r>
              <a:rPr lang="en-US" sz="3600" dirty="0">
                <a:latin typeface="Montserrat" panose="00000500000000000000" pitchFamily="2" charset="0"/>
              </a:rPr>
              <a:t>DATASET DESCRIPTION</a:t>
            </a:r>
          </a:p>
        </p:txBody>
      </p:sp>
      <p:sp>
        <p:nvSpPr>
          <p:cNvPr id="3" name="Content Placeholder 2">
            <a:extLst>
              <a:ext uri="{FF2B5EF4-FFF2-40B4-BE49-F238E27FC236}">
                <a16:creationId xmlns:a16="http://schemas.microsoft.com/office/drawing/2014/main" id="{B0BAD341-C517-3B52-DA18-F5F295D2EB56}"/>
              </a:ext>
            </a:extLst>
          </p:cNvPr>
          <p:cNvSpPr>
            <a:spLocks noGrp="1"/>
          </p:cNvSpPr>
          <p:nvPr>
            <p:ph idx="1"/>
          </p:nvPr>
        </p:nvSpPr>
        <p:spPr>
          <a:xfrm>
            <a:off x="1451580" y="1921938"/>
            <a:ext cx="9603275" cy="4131548"/>
          </a:xfrm>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dataset contains detailed order-level transactional records including:</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Order ID and Order Date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Customer ID and Customer Segment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Product Category and Sub-Category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Sales, Quantity, Discount and Profit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State and Region information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Shipping mode and delivery details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This data allows analysis of operational performance, customer behavior, and product profitability</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descr="Pack of Database flat Icons">
            <a:extLst>
              <a:ext uri="{FF2B5EF4-FFF2-40B4-BE49-F238E27FC236}">
                <a16:creationId xmlns:a16="http://schemas.microsoft.com/office/drawing/2014/main" id="{F37C8746-8D03-8440-589F-55D25B21C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5434" y="-1"/>
            <a:ext cx="2080491" cy="1653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927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5F77-E228-655C-DB47-C0500CBFB1FA}"/>
              </a:ext>
            </a:extLst>
          </p:cNvPr>
          <p:cNvSpPr>
            <a:spLocks noGrp="1"/>
          </p:cNvSpPr>
          <p:nvPr>
            <p:ph type="title"/>
          </p:nvPr>
        </p:nvSpPr>
        <p:spPr/>
        <p:txBody>
          <a:bodyPr>
            <a:normAutofit/>
          </a:bodyPr>
          <a:lstStyle/>
          <a:p>
            <a:pPr algn="ctr"/>
            <a:r>
              <a:rPr lang="en-US" sz="3600" dirty="0">
                <a:latin typeface="Montserrat" panose="00000500000000000000" pitchFamily="2" charset="0"/>
              </a:rPr>
              <a:t>METHODOLOGY</a:t>
            </a:r>
          </a:p>
        </p:txBody>
      </p:sp>
      <p:sp>
        <p:nvSpPr>
          <p:cNvPr id="3" name="Content Placeholder 2">
            <a:extLst>
              <a:ext uri="{FF2B5EF4-FFF2-40B4-BE49-F238E27FC236}">
                <a16:creationId xmlns:a16="http://schemas.microsoft.com/office/drawing/2014/main" id="{ACB29631-0C98-7872-631D-9125511878F8}"/>
              </a:ext>
            </a:extLst>
          </p:cNvPr>
          <p:cNvSpPr>
            <a:spLocks noGrp="1"/>
          </p:cNvSpPr>
          <p:nvPr>
            <p:ph idx="1"/>
          </p:nvPr>
        </p:nvSpPr>
        <p:spPr>
          <a:xfrm>
            <a:off x="1451580" y="1921938"/>
            <a:ext cx="9603275" cy="4131548"/>
          </a:xfrm>
        </p:spPr>
        <p:txBody>
          <a:bodyPr>
            <a:normAutofit/>
          </a:bodyPr>
          <a:lstStyle/>
          <a:p>
            <a:pPr marL="0" indent="0">
              <a:buNone/>
            </a:pPr>
            <a:r>
              <a:rPr lang="en-US" dirty="0"/>
              <a:t>The project was implemented using the Business Intelligence workflow:</a:t>
            </a:r>
          </a:p>
          <a:p>
            <a:pPr marL="457189" indent="-457189">
              <a:buFont typeface="+mj-lt"/>
              <a:buAutoNum type="arabicPeriod"/>
            </a:pPr>
            <a:r>
              <a:rPr lang="en-US" dirty="0"/>
              <a:t>Data Collection – Imported retail dataset</a:t>
            </a:r>
          </a:p>
          <a:p>
            <a:pPr marL="457189" indent="-457189">
              <a:buFont typeface="+mj-lt"/>
              <a:buAutoNum type="arabicPeriod"/>
            </a:pPr>
            <a:r>
              <a:rPr lang="en-US" dirty="0"/>
              <a:t>Data Cleaning – Removed nulls and corrected data types</a:t>
            </a:r>
          </a:p>
          <a:p>
            <a:pPr marL="457189" indent="-457189">
              <a:buFont typeface="+mj-lt"/>
              <a:buAutoNum type="arabicPeriod"/>
            </a:pPr>
            <a:r>
              <a:rPr lang="en-US" dirty="0"/>
              <a:t>Data Transformation – Created calculated columns</a:t>
            </a:r>
          </a:p>
          <a:p>
            <a:pPr marL="457189" indent="-457189">
              <a:buFont typeface="+mj-lt"/>
              <a:buAutoNum type="arabicPeriod"/>
            </a:pPr>
            <a:r>
              <a:rPr lang="en-US" dirty="0"/>
              <a:t>Data Modeling – Built relationships between tables</a:t>
            </a:r>
          </a:p>
          <a:p>
            <a:pPr marL="457189" indent="-457189">
              <a:buFont typeface="+mj-lt"/>
              <a:buAutoNum type="arabicPeriod"/>
            </a:pPr>
            <a:r>
              <a:rPr lang="en-US" dirty="0"/>
              <a:t>Data Analysis – Created KPIs using DAX</a:t>
            </a:r>
          </a:p>
          <a:p>
            <a:pPr marL="457189" indent="-457189">
              <a:buFont typeface="+mj-lt"/>
              <a:buAutoNum type="arabicPeriod"/>
            </a:pPr>
            <a:r>
              <a:rPr lang="en-US" dirty="0"/>
              <a:t>Data Visualization – Designed interactive dashboards</a:t>
            </a:r>
          </a:p>
          <a:p>
            <a:pPr marL="457189" indent="-457189">
              <a:buFont typeface="+mj-lt"/>
              <a:buAutoNum type="arabicPeriod"/>
            </a:pPr>
            <a:r>
              <a:rPr lang="en-US" dirty="0"/>
              <a:t>Insight Generation – Derived business recommendations</a:t>
            </a:r>
          </a:p>
          <a:p>
            <a:pPr marL="0" indent="0">
              <a:buNone/>
            </a:pPr>
            <a:endParaRPr lang="en-US" dirty="0"/>
          </a:p>
        </p:txBody>
      </p:sp>
      <p:pic>
        <p:nvPicPr>
          <p:cNvPr id="2050" name="Picture 2" descr="ETL as file extract, transform, load procedure explanation outline diagram">
            <a:extLst>
              <a:ext uri="{FF2B5EF4-FFF2-40B4-BE49-F238E27FC236}">
                <a16:creationId xmlns:a16="http://schemas.microsoft.com/office/drawing/2014/main" id="{B584240D-2434-B138-1A68-37A09CCBC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4546" y="0"/>
            <a:ext cx="3262790" cy="16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517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9A4D-0675-B290-32CD-B06E256A36FF}"/>
              </a:ext>
            </a:extLst>
          </p:cNvPr>
          <p:cNvSpPr>
            <a:spLocks noGrp="1"/>
          </p:cNvSpPr>
          <p:nvPr>
            <p:ph type="title"/>
          </p:nvPr>
        </p:nvSpPr>
        <p:spPr/>
        <p:txBody>
          <a:bodyPr>
            <a:normAutofit/>
          </a:bodyPr>
          <a:lstStyle/>
          <a:p>
            <a:pPr algn="ctr"/>
            <a:r>
              <a:rPr lang="en-US" sz="3600" dirty="0">
                <a:latin typeface="Montserrat" panose="00000500000000000000" pitchFamily="2" charset="0"/>
              </a:rPr>
              <a:t>DATA PREPARATION</a:t>
            </a:r>
          </a:p>
        </p:txBody>
      </p:sp>
      <p:sp>
        <p:nvSpPr>
          <p:cNvPr id="3" name="Content Placeholder 2">
            <a:extLst>
              <a:ext uri="{FF2B5EF4-FFF2-40B4-BE49-F238E27FC236}">
                <a16:creationId xmlns:a16="http://schemas.microsoft.com/office/drawing/2014/main" id="{719C6B09-D3E2-03BD-59F2-F197C64E0E96}"/>
              </a:ext>
            </a:extLst>
          </p:cNvPr>
          <p:cNvSpPr>
            <a:spLocks noGrp="1"/>
          </p:cNvSpPr>
          <p:nvPr>
            <p:ph idx="1"/>
          </p:nvPr>
        </p:nvSpPr>
        <p:spPr>
          <a:xfrm>
            <a:off x="1141615" y="1864207"/>
            <a:ext cx="10058400" cy="4023360"/>
          </a:xfrm>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Data preparation was performed using Power Query:</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Removed duplicate records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Handled missing values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Standardized date format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Converted numeric columns (Sales, Profit, Quantity)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Created new columns (Year, Month, Profit Margin)</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This step ensured data accuracy and reliability before analysis.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2" descr="Pack of Database flat Icons">
            <a:extLst>
              <a:ext uri="{FF2B5EF4-FFF2-40B4-BE49-F238E27FC236}">
                <a16:creationId xmlns:a16="http://schemas.microsoft.com/office/drawing/2014/main" id="{A6F508DC-AC63-A54B-82BA-2DBF5FAF0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4474" y="0"/>
            <a:ext cx="2080491" cy="1653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709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C29FE-1BCC-5A72-9C59-45345B052FCF}"/>
              </a:ext>
            </a:extLst>
          </p:cNvPr>
          <p:cNvSpPr>
            <a:spLocks noGrp="1"/>
          </p:cNvSpPr>
          <p:nvPr>
            <p:ph type="title"/>
          </p:nvPr>
        </p:nvSpPr>
        <p:spPr>
          <a:xfrm>
            <a:off x="1451580" y="804523"/>
            <a:ext cx="9603275" cy="829548"/>
          </a:xfrm>
        </p:spPr>
        <p:txBody>
          <a:bodyPr>
            <a:normAutofit/>
          </a:bodyPr>
          <a:lstStyle/>
          <a:p>
            <a:pPr algn="ctr"/>
            <a:r>
              <a:rPr lang="en-US" sz="3600" dirty="0">
                <a:latin typeface="Montserrat" panose="00000500000000000000" pitchFamily="2" charset="0"/>
              </a:rPr>
              <a:t>DATA MODELING</a:t>
            </a:r>
          </a:p>
        </p:txBody>
      </p:sp>
      <p:sp>
        <p:nvSpPr>
          <p:cNvPr id="3" name="Content Placeholder 2">
            <a:extLst>
              <a:ext uri="{FF2B5EF4-FFF2-40B4-BE49-F238E27FC236}">
                <a16:creationId xmlns:a16="http://schemas.microsoft.com/office/drawing/2014/main" id="{0C94E5F9-2AA1-B742-62BE-C3A10AADF8D2}"/>
              </a:ext>
            </a:extLst>
          </p:cNvPr>
          <p:cNvSpPr>
            <a:spLocks noGrp="1"/>
          </p:cNvSpPr>
          <p:nvPr>
            <p:ph idx="1"/>
          </p:nvPr>
        </p:nvSpPr>
        <p:spPr>
          <a:xfrm>
            <a:off x="1451580" y="1921933"/>
            <a:ext cx="9603275" cy="4131547"/>
          </a:xfrm>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A Star Schema data model was implemented.</a:t>
            </a:r>
          </a:p>
          <a:p>
            <a:r>
              <a:rPr lang="en-US" b="1" dirty="0">
                <a:latin typeface="Calibri" panose="020F0502020204030204" pitchFamily="34" charset="0"/>
                <a:ea typeface="Calibri" panose="020F0502020204030204" pitchFamily="34" charset="0"/>
                <a:cs typeface="Calibri" panose="020F0502020204030204" pitchFamily="34" charset="0"/>
              </a:rPr>
              <a:t>Fact Table: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Sales/Orders Table (Sales, Profit, Quantity)</a:t>
            </a:r>
          </a:p>
          <a:p>
            <a:r>
              <a:rPr lang="en-US" b="1" dirty="0">
                <a:latin typeface="Calibri" panose="020F0502020204030204" pitchFamily="34" charset="0"/>
                <a:ea typeface="Calibri" panose="020F0502020204030204" pitchFamily="34" charset="0"/>
                <a:cs typeface="Calibri" panose="020F0502020204030204" pitchFamily="34" charset="0"/>
              </a:rPr>
              <a:t>Dimension Tables: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Customer Table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Product Table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Region Table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Date Table</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One-to-many relationships were created between dimension tables and the fact table to optimize performance and enable filtering.</a:t>
            </a:r>
          </a:p>
        </p:txBody>
      </p:sp>
      <p:pic>
        <p:nvPicPr>
          <p:cNvPr id="9218" name="Picture 2" descr="Data Modeling Icon Representing Database Structure">
            <a:extLst>
              <a:ext uri="{FF2B5EF4-FFF2-40B4-BE49-F238E27FC236}">
                <a16:creationId xmlns:a16="http://schemas.microsoft.com/office/drawing/2014/main" id="{871A5595-94C8-1CCC-AAB2-142AA9A96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018" y="0"/>
            <a:ext cx="2009982" cy="170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07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9880-C55C-56B6-B0B2-4537BAE4EE4B}"/>
              </a:ext>
            </a:extLst>
          </p:cNvPr>
          <p:cNvSpPr>
            <a:spLocks noGrp="1"/>
          </p:cNvSpPr>
          <p:nvPr>
            <p:ph type="title"/>
          </p:nvPr>
        </p:nvSpPr>
        <p:spPr/>
        <p:txBody>
          <a:bodyPr>
            <a:normAutofit/>
          </a:bodyPr>
          <a:lstStyle/>
          <a:p>
            <a:pPr algn="ctr"/>
            <a:r>
              <a:rPr lang="en-US" sz="3600" dirty="0">
                <a:latin typeface="Montserrat" panose="00000500000000000000" pitchFamily="2" charset="0"/>
              </a:rPr>
              <a:t>KPI DEFINITIONS</a:t>
            </a:r>
          </a:p>
        </p:txBody>
      </p:sp>
      <p:sp>
        <p:nvSpPr>
          <p:cNvPr id="3" name="Content Placeholder 2">
            <a:extLst>
              <a:ext uri="{FF2B5EF4-FFF2-40B4-BE49-F238E27FC236}">
                <a16:creationId xmlns:a16="http://schemas.microsoft.com/office/drawing/2014/main" id="{F010443D-AA5B-E38D-C7A3-5BBB54ED0DFF}"/>
              </a:ext>
            </a:extLst>
          </p:cNvPr>
          <p:cNvSpPr>
            <a:spLocks noGrp="1"/>
          </p:cNvSpPr>
          <p:nvPr>
            <p:ph idx="1"/>
          </p:nvPr>
        </p:nvSpPr>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following Key Performance Indicators were created using DAX measures: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Total Sales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Total Profit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Total Orders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Total Customers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Average Order Value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Profit Margin %</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Repeat Customers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These KPIs provide a high-level overview of business performance.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076" name="Picture 4" descr="KPI Dashboard Icon Vector Element">
            <a:extLst>
              <a:ext uri="{FF2B5EF4-FFF2-40B4-BE49-F238E27FC236}">
                <a16:creationId xmlns:a16="http://schemas.microsoft.com/office/drawing/2014/main" id="{9E07A713-D60A-6AD0-0E67-B7ACE2C3B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8672" y="64655"/>
            <a:ext cx="2243328" cy="1450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213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73D396-B744-5126-216B-8B49E8138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 y="3"/>
            <a:ext cx="12102860" cy="6366295"/>
          </a:xfrm>
          <a:prstGeom prst="rect">
            <a:avLst/>
          </a:prstGeom>
        </p:spPr>
      </p:pic>
      <p:sp>
        <p:nvSpPr>
          <p:cNvPr id="5" name="Rectangle 4">
            <a:extLst>
              <a:ext uri="{FF2B5EF4-FFF2-40B4-BE49-F238E27FC236}">
                <a16:creationId xmlns:a16="http://schemas.microsoft.com/office/drawing/2014/main" id="{E8F9FEDF-59BE-0B49-8FFC-2C22D1BFE880}"/>
              </a:ext>
            </a:extLst>
          </p:cNvPr>
          <p:cNvSpPr/>
          <p:nvPr/>
        </p:nvSpPr>
        <p:spPr>
          <a:xfrm>
            <a:off x="5" y="6366293"/>
            <a:ext cx="12191999" cy="4917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8127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C15E51-681A-E8E3-A908-D5257925CC15}"/>
              </a:ext>
            </a:extLst>
          </p:cNvPr>
          <p:cNvSpPr txBox="1"/>
          <p:nvPr/>
        </p:nvSpPr>
        <p:spPr>
          <a:xfrm>
            <a:off x="84668" y="118537"/>
            <a:ext cx="12107333" cy="6247864"/>
          </a:xfrm>
          <a:prstGeom prst="rect">
            <a:avLst/>
          </a:prstGeom>
          <a:noFill/>
        </p:spPr>
        <p:txBody>
          <a:bodyPr wrap="square">
            <a:spAutoFit/>
          </a:bodyPr>
          <a:lstStyle/>
          <a:p>
            <a:pPr>
              <a:buNone/>
            </a:pPr>
            <a:r>
              <a:rPr lang="en-US" sz="2000" dirty="0"/>
              <a:t>The Executive Dashboard provides a high-level summary of overall business performance using key performance indicators.</a:t>
            </a:r>
          </a:p>
          <a:p>
            <a:pPr>
              <a:buNone/>
            </a:pPr>
            <a:endParaRPr lang="en-US" sz="2000" b="1" dirty="0"/>
          </a:p>
          <a:p>
            <a:pPr>
              <a:buNone/>
            </a:pPr>
            <a:r>
              <a:rPr lang="en-US" sz="2000" b="1" dirty="0"/>
              <a:t>Key KPIs Monitored:</a:t>
            </a:r>
            <a:endParaRPr lang="en-US" sz="2000" dirty="0"/>
          </a:p>
          <a:p>
            <a:pPr>
              <a:buFont typeface="Arial" panose="020B0604020202020204" pitchFamily="34" charset="0"/>
              <a:buChar char="•"/>
            </a:pPr>
            <a:r>
              <a:rPr lang="en-US" sz="2000" dirty="0"/>
              <a:t>Total Sales</a:t>
            </a:r>
          </a:p>
          <a:p>
            <a:pPr>
              <a:buFont typeface="Arial" panose="020B0604020202020204" pitchFamily="34" charset="0"/>
              <a:buChar char="•"/>
            </a:pPr>
            <a:r>
              <a:rPr lang="en-US" sz="2000" dirty="0"/>
              <a:t>Total Profit</a:t>
            </a:r>
          </a:p>
          <a:p>
            <a:pPr>
              <a:buFont typeface="Arial" panose="020B0604020202020204" pitchFamily="34" charset="0"/>
              <a:buChar char="•"/>
            </a:pPr>
            <a:r>
              <a:rPr lang="en-US" sz="2000" dirty="0"/>
              <a:t>Total Orders</a:t>
            </a:r>
          </a:p>
          <a:p>
            <a:pPr>
              <a:buFont typeface="Arial" panose="020B0604020202020204" pitchFamily="34" charset="0"/>
              <a:buChar char="•"/>
            </a:pPr>
            <a:r>
              <a:rPr lang="en-US" sz="2000" dirty="0"/>
              <a:t>Total Customers</a:t>
            </a:r>
          </a:p>
          <a:p>
            <a:pPr>
              <a:buFont typeface="Arial" panose="020B0604020202020204" pitchFamily="34" charset="0"/>
              <a:buChar char="•"/>
            </a:pPr>
            <a:r>
              <a:rPr lang="en-US" sz="2000" dirty="0"/>
              <a:t>Average Order Value</a:t>
            </a:r>
          </a:p>
          <a:p>
            <a:pPr>
              <a:buFont typeface="Arial" panose="020B0604020202020204" pitchFamily="34" charset="0"/>
              <a:buChar char="•"/>
            </a:pPr>
            <a:r>
              <a:rPr lang="en-US" sz="2000" dirty="0"/>
              <a:t>Profit Margin %</a:t>
            </a:r>
          </a:p>
          <a:p>
            <a:pPr>
              <a:buNone/>
            </a:pPr>
            <a:endParaRPr lang="en-US" sz="2000" b="1" dirty="0"/>
          </a:p>
          <a:p>
            <a:pPr>
              <a:buNone/>
            </a:pPr>
            <a:r>
              <a:rPr lang="en-US" sz="2000" b="1" dirty="0"/>
              <a:t>Analysis Provided:</a:t>
            </a:r>
            <a:endParaRPr lang="en-US" sz="2000" dirty="0"/>
          </a:p>
          <a:p>
            <a:pPr>
              <a:buFont typeface="Arial" panose="020B0604020202020204" pitchFamily="34" charset="0"/>
              <a:buChar char="•"/>
            </a:pPr>
            <a:r>
              <a:rPr lang="en-US" sz="2000" dirty="0"/>
              <a:t>Monthly revenue trend analysis</a:t>
            </a:r>
          </a:p>
          <a:p>
            <a:pPr>
              <a:buFont typeface="Arial" panose="020B0604020202020204" pitchFamily="34" charset="0"/>
              <a:buChar char="•"/>
            </a:pPr>
            <a:r>
              <a:rPr lang="en-US" sz="2000" dirty="0"/>
              <a:t>Sales by product category</a:t>
            </a:r>
          </a:p>
          <a:p>
            <a:pPr>
              <a:buFont typeface="Arial" panose="020B0604020202020204" pitchFamily="34" charset="0"/>
              <a:buChar char="•"/>
            </a:pPr>
            <a:r>
              <a:rPr lang="en-US" sz="2000" dirty="0"/>
              <a:t>Regional profitability comparison</a:t>
            </a:r>
          </a:p>
          <a:p>
            <a:pPr>
              <a:buFont typeface="Arial" panose="020B0604020202020204" pitchFamily="34" charset="0"/>
              <a:buChar char="•"/>
            </a:pPr>
            <a:r>
              <a:rPr lang="en-US" sz="2000" dirty="0"/>
              <a:t>Customer segment contribution</a:t>
            </a:r>
          </a:p>
          <a:p>
            <a:pPr>
              <a:buFont typeface="Arial" panose="020B0604020202020204" pitchFamily="34" charset="0"/>
              <a:buChar char="•"/>
            </a:pPr>
            <a:r>
              <a:rPr lang="en-US" sz="2000" dirty="0"/>
              <a:t>Geographic sales distribution by state</a:t>
            </a:r>
          </a:p>
          <a:p>
            <a:pPr>
              <a:buNone/>
            </a:pPr>
            <a:endParaRPr lang="en-US" sz="2000" b="1" dirty="0"/>
          </a:p>
          <a:p>
            <a:pPr>
              <a:buNone/>
            </a:pPr>
            <a:r>
              <a:rPr lang="en-US" sz="2000" b="1" dirty="0"/>
              <a:t>Purpose:</a:t>
            </a:r>
            <a:br>
              <a:rPr lang="en-US" sz="2000" dirty="0"/>
            </a:br>
            <a:r>
              <a:rPr lang="en-US" sz="2000" dirty="0"/>
              <a:t>This dashboard helps management quickly monitor company performance and identify growth or decline trends.</a:t>
            </a:r>
          </a:p>
        </p:txBody>
      </p:sp>
    </p:spTree>
    <p:extLst>
      <p:ext uri="{BB962C8B-B14F-4D97-AF65-F5344CB8AC3E}">
        <p14:creationId xmlns:p14="http://schemas.microsoft.com/office/powerpoint/2010/main" val="2602591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3F268-FF5A-0D74-BDF6-D2A6BD06B7D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4"/>
            <a:ext cx="12192000" cy="6374921"/>
          </a:xfrm>
          <a:prstGeom prst="rect">
            <a:avLst/>
          </a:prstGeom>
        </p:spPr>
      </p:pic>
    </p:spTree>
    <p:extLst>
      <p:ext uri="{BB962C8B-B14F-4D97-AF65-F5344CB8AC3E}">
        <p14:creationId xmlns:p14="http://schemas.microsoft.com/office/powerpoint/2010/main" val="247364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54A3D-AAD8-BC90-D214-11D0A454488E}"/>
              </a:ext>
            </a:extLst>
          </p:cNvPr>
          <p:cNvSpPr>
            <a:spLocks noGrp="1"/>
          </p:cNvSpPr>
          <p:nvPr>
            <p:ph type="title"/>
          </p:nvPr>
        </p:nvSpPr>
        <p:spPr/>
        <p:txBody>
          <a:bodyPr>
            <a:normAutofit/>
          </a:bodyPr>
          <a:lstStyle/>
          <a:p>
            <a:r>
              <a:rPr lang="en-US" sz="3600" dirty="0">
                <a:latin typeface="Montserrat" panose="00000500000000000000" pitchFamily="2" charset="0"/>
              </a:rPr>
              <a:t>Product Performance &amp; Profitability Analysis</a:t>
            </a:r>
          </a:p>
        </p:txBody>
      </p:sp>
      <p:sp>
        <p:nvSpPr>
          <p:cNvPr id="3" name="Content Placeholder 2">
            <a:extLst>
              <a:ext uri="{FF2B5EF4-FFF2-40B4-BE49-F238E27FC236}">
                <a16:creationId xmlns:a16="http://schemas.microsoft.com/office/drawing/2014/main" id="{6D85CC05-8402-F0C1-0995-44E3096A121A}"/>
              </a:ext>
            </a:extLst>
          </p:cNvPr>
          <p:cNvSpPr>
            <a:spLocks noGrp="1"/>
          </p:cNvSpPr>
          <p:nvPr>
            <p:ph idx="1"/>
          </p:nvPr>
        </p:nvSpPr>
        <p:spPr>
          <a:xfrm>
            <a:off x="1200797" y="1737361"/>
            <a:ext cx="10617392" cy="4585803"/>
          </a:xfrm>
        </p:spPr>
        <p:txBody>
          <a:bodyPr numCol="2">
            <a:noAutofit/>
          </a:bodyPr>
          <a:lstStyle/>
          <a:p>
            <a:r>
              <a:rPr lang="en-US" sz="1600" b="1" dirty="0"/>
              <a:t>This dashboard focuses on analyzing product-level performance and profitability.</a:t>
            </a:r>
          </a:p>
          <a:p>
            <a:r>
              <a:rPr lang="en-US" sz="1600" b="1" dirty="0"/>
              <a:t>Key Insights Available:</a:t>
            </a:r>
            <a:endParaRPr lang="en-US" sz="1600" dirty="0"/>
          </a:p>
          <a:p>
            <a:pPr>
              <a:buFont typeface="Wingdings" panose="05000000000000000000" pitchFamily="2" charset="2"/>
              <a:buChar char="Ø"/>
            </a:pPr>
            <a:r>
              <a:rPr lang="en-US" sz="1600" dirty="0"/>
              <a:t>Top 10 products by revenue</a:t>
            </a:r>
          </a:p>
          <a:p>
            <a:pPr>
              <a:buFont typeface="Wingdings" panose="05000000000000000000" pitchFamily="2" charset="2"/>
              <a:buChar char="Ø"/>
            </a:pPr>
            <a:r>
              <a:rPr lang="en-US" sz="1600" dirty="0"/>
              <a:t>Product-wise profit comparison</a:t>
            </a:r>
          </a:p>
          <a:p>
            <a:pPr>
              <a:buFont typeface="Wingdings" panose="05000000000000000000" pitchFamily="2" charset="2"/>
              <a:buChar char="Ø"/>
            </a:pPr>
            <a:r>
              <a:rPr lang="en-US" sz="1600" dirty="0"/>
              <a:t>Sub-category sales contribution</a:t>
            </a:r>
          </a:p>
          <a:p>
            <a:pPr>
              <a:buFont typeface="Wingdings" panose="05000000000000000000" pitchFamily="2" charset="2"/>
              <a:buChar char="Ø"/>
            </a:pPr>
            <a:r>
              <a:rPr lang="en-US" sz="1600" dirty="0"/>
              <a:t>Profitability quadrant analysis</a:t>
            </a:r>
          </a:p>
          <a:p>
            <a:pPr>
              <a:buFont typeface="Wingdings" panose="05000000000000000000" pitchFamily="2" charset="2"/>
              <a:buChar char="Ø"/>
            </a:pPr>
            <a:r>
              <a:rPr lang="en-US" sz="1600" dirty="0"/>
              <a:t>Category-wise profit distribution</a:t>
            </a:r>
          </a:p>
          <a:p>
            <a:r>
              <a:rPr lang="en-US" sz="1600" b="1" dirty="0"/>
              <a:t>Business Questions Answered:</a:t>
            </a:r>
            <a:endParaRPr lang="en-US" sz="1600" dirty="0"/>
          </a:p>
          <a:p>
            <a:pPr>
              <a:buFont typeface="Wingdings" panose="05000000000000000000" pitchFamily="2" charset="2"/>
              <a:buChar char="Ø"/>
            </a:pPr>
            <a:r>
              <a:rPr lang="en-US" sz="1600" dirty="0"/>
              <a:t>Which products generate maximum revenue?</a:t>
            </a:r>
          </a:p>
          <a:p>
            <a:pPr>
              <a:buFont typeface="Wingdings" panose="05000000000000000000" pitchFamily="2" charset="2"/>
              <a:buChar char="Ø"/>
            </a:pPr>
            <a:r>
              <a:rPr lang="en-US" sz="1600" dirty="0"/>
              <a:t>Which products are profitable or loss-making?</a:t>
            </a:r>
          </a:p>
          <a:p>
            <a:pPr>
              <a:buFont typeface="Wingdings" panose="05000000000000000000" pitchFamily="2" charset="2"/>
              <a:buChar char="Ø"/>
            </a:pPr>
            <a:r>
              <a:rPr lang="en-US" sz="1600" dirty="0"/>
              <a:t>Which categories require inventory optimization?</a:t>
            </a:r>
          </a:p>
          <a:p>
            <a:pPr marL="0" indent="0">
              <a:buNone/>
            </a:pPr>
            <a:r>
              <a:rPr lang="en-US" sz="1600" b="1" dirty="0"/>
              <a:t> Purpose:</a:t>
            </a:r>
            <a:br>
              <a:rPr lang="en-US" sz="1600" dirty="0"/>
            </a:br>
            <a:r>
              <a:rPr lang="en-US" sz="1600" dirty="0"/>
              <a:t> Helps management optimize product strategy, pricing, and inventory decisions.</a:t>
            </a:r>
          </a:p>
          <a:p>
            <a:endParaRPr lang="en-US" sz="1600" dirty="0"/>
          </a:p>
        </p:txBody>
      </p:sp>
    </p:spTree>
    <p:extLst>
      <p:ext uri="{BB962C8B-B14F-4D97-AF65-F5344CB8AC3E}">
        <p14:creationId xmlns:p14="http://schemas.microsoft.com/office/powerpoint/2010/main" val="380515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75658B-9B6A-D3AE-D24D-8EEE45F1E9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45"/>
            <a:ext cx="12192000" cy="6322983"/>
          </a:xfrm>
          <a:prstGeom prst="rect">
            <a:avLst/>
          </a:prstGeom>
        </p:spPr>
      </p:pic>
    </p:spTree>
    <p:extLst>
      <p:ext uri="{BB962C8B-B14F-4D97-AF65-F5344CB8AC3E}">
        <p14:creationId xmlns:p14="http://schemas.microsoft.com/office/powerpoint/2010/main" val="4056320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BD125-5C10-89C2-CBDF-1567CF8D2352}"/>
              </a:ext>
            </a:extLst>
          </p:cNvPr>
          <p:cNvSpPr>
            <a:spLocks noGrp="1"/>
          </p:cNvSpPr>
          <p:nvPr>
            <p:ph type="title"/>
          </p:nvPr>
        </p:nvSpPr>
        <p:spPr/>
        <p:txBody>
          <a:bodyPr>
            <a:normAutofit/>
          </a:bodyPr>
          <a:lstStyle/>
          <a:p>
            <a:pPr algn="ctr"/>
            <a:r>
              <a:rPr lang="en-US" sz="3600" dirty="0"/>
              <a:t>CUSTOMER INSIGHTS DASHBOARD	</a:t>
            </a:r>
          </a:p>
        </p:txBody>
      </p:sp>
      <p:sp>
        <p:nvSpPr>
          <p:cNvPr id="3" name="Content Placeholder 2">
            <a:extLst>
              <a:ext uri="{FF2B5EF4-FFF2-40B4-BE49-F238E27FC236}">
                <a16:creationId xmlns:a16="http://schemas.microsoft.com/office/drawing/2014/main" id="{ED396A39-9078-EE83-7A1B-9BD767AB4B11}"/>
              </a:ext>
            </a:extLst>
          </p:cNvPr>
          <p:cNvSpPr>
            <a:spLocks noGrp="1"/>
          </p:cNvSpPr>
          <p:nvPr>
            <p:ph idx="1"/>
          </p:nvPr>
        </p:nvSpPr>
        <p:spPr>
          <a:xfrm>
            <a:off x="1097280" y="1737365"/>
            <a:ext cx="10058400" cy="4603055"/>
          </a:xfrm>
          <a:ln>
            <a:noFill/>
          </a:ln>
        </p:spPr>
        <p:txBody>
          <a:bodyPr>
            <a:noAutofit/>
          </a:bodyPr>
          <a:lstStyle/>
          <a:p>
            <a:r>
              <a:rPr lang="en-US" sz="1400" dirty="0">
                <a:latin typeface="Calibri "/>
              </a:rPr>
              <a:t>This dashboard analyzes customer purchasing behavior and segmentation patterns.</a:t>
            </a:r>
          </a:p>
          <a:p>
            <a:r>
              <a:rPr lang="en-US" sz="1400" b="1" dirty="0">
                <a:latin typeface="Calibri "/>
              </a:rPr>
              <a:t>Analysis Included:</a:t>
            </a:r>
            <a:endParaRPr lang="en-US" sz="1400" dirty="0">
              <a:latin typeface="Calibri "/>
            </a:endParaRPr>
          </a:p>
          <a:p>
            <a:r>
              <a:rPr lang="en-US" sz="1400" dirty="0">
                <a:latin typeface="Calibri "/>
              </a:rPr>
              <a:t>Total and repeat customers</a:t>
            </a:r>
          </a:p>
          <a:p>
            <a:r>
              <a:rPr lang="en-US" sz="1400" dirty="0">
                <a:latin typeface="Calibri "/>
              </a:rPr>
              <a:t>Sales per customer</a:t>
            </a:r>
          </a:p>
          <a:p>
            <a:r>
              <a:rPr lang="en-US" sz="1400" dirty="0">
                <a:latin typeface="Calibri "/>
              </a:rPr>
              <a:t>Orders per customer</a:t>
            </a:r>
          </a:p>
          <a:p>
            <a:r>
              <a:rPr lang="en-US" sz="1400" dirty="0">
                <a:latin typeface="Calibri "/>
              </a:rPr>
              <a:t>Customer profitability matrix</a:t>
            </a:r>
          </a:p>
          <a:p>
            <a:r>
              <a:rPr lang="en-US" sz="1400" dirty="0">
                <a:latin typeface="Calibri "/>
              </a:rPr>
              <a:t>Top 10 customers by revenue</a:t>
            </a:r>
          </a:p>
          <a:p>
            <a:r>
              <a:rPr lang="en-US" sz="1400" dirty="0">
                <a:latin typeface="Calibri "/>
              </a:rPr>
              <a:t>Purchase frequency distribution</a:t>
            </a:r>
          </a:p>
          <a:p>
            <a:r>
              <a:rPr lang="en-US" sz="1400" dirty="0">
                <a:latin typeface="Calibri "/>
              </a:rPr>
              <a:t>Customer distribution by state</a:t>
            </a:r>
          </a:p>
          <a:p>
            <a:r>
              <a:rPr lang="en-US" sz="1400" b="1" dirty="0">
                <a:latin typeface="Calibri "/>
              </a:rPr>
              <a:t>Business Questions Answered:</a:t>
            </a:r>
            <a:endParaRPr lang="en-US" sz="1400" dirty="0">
              <a:latin typeface="Calibri "/>
            </a:endParaRPr>
          </a:p>
          <a:p>
            <a:r>
              <a:rPr lang="en-US" sz="1400" dirty="0">
                <a:latin typeface="Calibri "/>
              </a:rPr>
              <a:t>Who are high-value customers?</a:t>
            </a:r>
          </a:p>
          <a:p>
            <a:r>
              <a:rPr lang="en-US" sz="1400" dirty="0">
                <a:latin typeface="Calibri "/>
              </a:rPr>
              <a:t>Which segment contributes most revenue?</a:t>
            </a:r>
          </a:p>
          <a:p>
            <a:pPr>
              <a:lnSpc>
                <a:spcPct val="100000"/>
              </a:lnSpc>
              <a:spcBef>
                <a:spcPts val="0"/>
              </a:spcBef>
              <a:spcAft>
                <a:spcPts val="0"/>
              </a:spcAft>
            </a:pPr>
            <a:r>
              <a:rPr lang="en-US" sz="1400" dirty="0">
                <a:latin typeface="Calibri "/>
              </a:rPr>
              <a:t>How frequently customers purchase?</a:t>
            </a:r>
          </a:p>
          <a:p>
            <a:endParaRPr lang="en-US" sz="1400" dirty="0">
              <a:latin typeface="Calibri "/>
            </a:endParaRPr>
          </a:p>
        </p:txBody>
      </p:sp>
    </p:spTree>
    <p:extLst>
      <p:ext uri="{BB962C8B-B14F-4D97-AF65-F5344CB8AC3E}">
        <p14:creationId xmlns:p14="http://schemas.microsoft.com/office/powerpoint/2010/main" val="177392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6B04-4798-92AC-B25C-64B4054A6DEE}"/>
              </a:ext>
            </a:extLst>
          </p:cNvPr>
          <p:cNvSpPr>
            <a:spLocks noGrp="1"/>
          </p:cNvSpPr>
          <p:nvPr>
            <p:ph type="title"/>
          </p:nvPr>
        </p:nvSpPr>
        <p:spPr>
          <a:xfrm>
            <a:off x="1097280" y="743851"/>
            <a:ext cx="9806509" cy="993511"/>
          </a:xfrm>
        </p:spPr>
        <p:txBody>
          <a:bodyPr>
            <a:normAutofit/>
          </a:bodyPr>
          <a:lstStyle/>
          <a:p>
            <a:pPr algn="ctr"/>
            <a:r>
              <a:rPr lang="en-US" sz="3600" dirty="0">
                <a:latin typeface="Montserrat" panose="00000500000000000000" pitchFamily="2" charset="0"/>
              </a:rPr>
              <a:t>Key Insights from Analysis</a:t>
            </a:r>
          </a:p>
        </p:txBody>
      </p:sp>
      <p:sp>
        <p:nvSpPr>
          <p:cNvPr id="3" name="Content Placeholder 2">
            <a:extLst>
              <a:ext uri="{FF2B5EF4-FFF2-40B4-BE49-F238E27FC236}">
                <a16:creationId xmlns:a16="http://schemas.microsoft.com/office/drawing/2014/main" id="{4EA2D551-85B3-83BE-9A13-A529AB73B91E}"/>
              </a:ext>
            </a:extLst>
          </p:cNvPr>
          <p:cNvSpPr>
            <a:spLocks noGrp="1"/>
          </p:cNvSpPr>
          <p:nvPr>
            <p:ph idx="1"/>
          </p:nvPr>
        </p:nvSpPr>
        <p:spPr>
          <a:xfrm>
            <a:off x="1097280" y="1737362"/>
            <a:ext cx="10058400" cy="4529187"/>
          </a:xfrm>
        </p:spPr>
        <p:txBody>
          <a:bodyPr numCol="1">
            <a:noAutofit/>
          </a:bodyPr>
          <a:lstStyle/>
          <a:p>
            <a:r>
              <a:rPr lang="en-US" sz="1400" b="1" dirty="0">
                <a:latin typeface="Calibri "/>
              </a:rPr>
              <a:t>Sales &amp; Profit</a:t>
            </a:r>
          </a:p>
          <a:p>
            <a:r>
              <a:rPr lang="en-US" sz="1400" dirty="0">
                <a:latin typeface="Calibri "/>
              </a:rPr>
              <a:t>• Technology category generated the highest revenue</a:t>
            </a:r>
            <a:br>
              <a:rPr lang="en-US" sz="1400" dirty="0">
                <a:latin typeface="Calibri "/>
              </a:rPr>
            </a:br>
            <a:r>
              <a:rPr lang="en-US" sz="1400" dirty="0">
                <a:latin typeface="Calibri "/>
              </a:rPr>
              <a:t>• Some categories show high sales but low profit margins</a:t>
            </a:r>
            <a:br>
              <a:rPr lang="en-US" sz="1400" dirty="0">
                <a:latin typeface="Calibri "/>
              </a:rPr>
            </a:br>
            <a:r>
              <a:rPr lang="en-US" sz="1400" dirty="0">
                <a:latin typeface="Calibri "/>
              </a:rPr>
              <a:t>• Profit margin varies significantly across regions</a:t>
            </a:r>
          </a:p>
          <a:p>
            <a:r>
              <a:rPr lang="en-US" sz="1400" b="1" dirty="0">
                <a:latin typeface="Calibri "/>
              </a:rPr>
              <a:t>Customer Behavior</a:t>
            </a:r>
          </a:p>
          <a:p>
            <a:r>
              <a:rPr lang="en-US" sz="1400" dirty="0">
                <a:latin typeface="Calibri "/>
              </a:rPr>
              <a:t>• A small number of customers contribute a large share of revenue</a:t>
            </a:r>
            <a:br>
              <a:rPr lang="en-US" sz="1400" dirty="0">
                <a:latin typeface="Calibri "/>
              </a:rPr>
            </a:br>
            <a:r>
              <a:rPr lang="en-US" sz="1400" dirty="0">
                <a:latin typeface="Calibri "/>
              </a:rPr>
              <a:t>• Repeat customers generate higher profitability</a:t>
            </a:r>
            <a:br>
              <a:rPr lang="en-US" sz="1400" dirty="0">
                <a:latin typeface="Calibri "/>
              </a:rPr>
            </a:br>
            <a:r>
              <a:rPr lang="en-US" sz="1400" dirty="0">
                <a:latin typeface="Calibri "/>
              </a:rPr>
              <a:t>• Consumer segment is the dominant purchasing segment</a:t>
            </a:r>
          </a:p>
          <a:p>
            <a:r>
              <a:rPr lang="en-US" sz="1400" b="1" dirty="0">
                <a:latin typeface="Calibri "/>
              </a:rPr>
              <a:t>Product Performance</a:t>
            </a:r>
          </a:p>
          <a:p>
            <a:r>
              <a:rPr lang="en-US" sz="1400" dirty="0">
                <a:latin typeface="Calibri "/>
              </a:rPr>
              <a:t>• Certain products sell frequently but provide low profit due to discounting</a:t>
            </a:r>
            <a:br>
              <a:rPr lang="en-US" sz="1400" dirty="0">
                <a:latin typeface="Calibri "/>
              </a:rPr>
            </a:br>
            <a:r>
              <a:rPr lang="en-US" sz="1400" dirty="0">
                <a:latin typeface="Calibri "/>
              </a:rPr>
              <a:t>• Sub-categories like Chairs and Tables show inconsistent profitability</a:t>
            </a:r>
            <a:br>
              <a:rPr lang="en-US" sz="1400" dirty="0">
                <a:latin typeface="Calibri "/>
              </a:rPr>
            </a:br>
            <a:r>
              <a:rPr lang="en-US" sz="1400" dirty="0">
                <a:latin typeface="Calibri "/>
              </a:rPr>
              <a:t>• High discounts directly reduce profit</a:t>
            </a:r>
          </a:p>
          <a:p>
            <a:r>
              <a:rPr lang="en-US" sz="1400" b="1" dirty="0">
                <a:latin typeface="Calibri "/>
              </a:rPr>
              <a:t>Regional Analysis</a:t>
            </a:r>
          </a:p>
          <a:p>
            <a:r>
              <a:rPr lang="en-US" sz="1400" dirty="0">
                <a:latin typeface="Calibri "/>
              </a:rPr>
              <a:t>• Western region shows strongest profitability</a:t>
            </a:r>
            <a:br>
              <a:rPr lang="en-US" sz="1400" dirty="0">
                <a:latin typeface="Calibri "/>
              </a:rPr>
            </a:br>
            <a:r>
              <a:rPr lang="en-US" sz="1400" dirty="0">
                <a:latin typeface="Calibri "/>
              </a:rPr>
              <a:t>• Some regions generate sales but comparatively lower profit</a:t>
            </a:r>
            <a:br>
              <a:rPr lang="en-US" sz="1400" dirty="0">
                <a:latin typeface="Calibri "/>
              </a:rPr>
            </a:br>
            <a:r>
              <a:rPr lang="en-US" sz="1400" dirty="0">
                <a:latin typeface="Calibri "/>
              </a:rPr>
              <a:t>• Geographic demand varies across states</a:t>
            </a:r>
          </a:p>
          <a:p>
            <a:endParaRPr lang="en-US" sz="1400" dirty="0">
              <a:latin typeface="Calibri "/>
            </a:endParaRPr>
          </a:p>
        </p:txBody>
      </p:sp>
      <p:sp>
        <p:nvSpPr>
          <p:cNvPr id="4" name="AutoShape 2" descr="Business Team Presentation Vector With Charts Graphs Data Analysis And  Teamwork Illustration | EPS Free Download - Pikbest">
            <a:extLst>
              <a:ext uri="{FF2B5EF4-FFF2-40B4-BE49-F238E27FC236}">
                <a16:creationId xmlns:a16="http://schemas.microsoft.com/office/drawing/2014/main" id="{CC4F566C-3205-FE9F-BEAA-A8958F935A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Business Team Presentation Vector With Charts Graphs Data Analysis And  Teamwork Illustration | EPS Free Download - Pikbest">
            <a:extLst>
              <a:ext uri="{FF2B5EF4-FFF2-40B4-BE49-F238E27FC236}">
                <a16:creationId xmlns:a16="http://schemas.microsoft.com/office/drawing/2014/main" id="{FDC70B4E-7AFA-C314-22F8-6ED0F9749C39}"/>
              </a:ext>
            </a:extLst>
          </p:cNvPr>
          <p:cNvSpPr>
            <a:spLocks noChangeAspect="1" noChangeArrowheads="1"/>
          </p:cNvSpPr>
          <p:nvPr/>
        </p:nvSpPr>
        <p:spPr bwMode="auto">
          <a:xfrm flipH="1">
            <a:off x="6400800" y="3429000"/>
            <a:ext cx="1043796"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Business Meeting Presentation With Diverse Team Analyzing Charts And  Graphs, Business Meeting, Team Presentation, Data Analysis PNG Transparent  Image and Clipart for Free Download">
            <a:extLst>
              <a:ext uri="{FF2B5EF4-FFF2-40B4-BE49-F238E27FC236}">
                <a16:creationId xmlns:a16="http://schemas.microsoft.com/office/drawing/2014/main" id="{D3E8BD6A-D480-FA19-627E-A84F3EB9CCC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D5FC0ACB-E189-AA98-102A-D186846C5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8430" y="3950898"/>
            <a:ext cx="3473570" cy="2315651"/>
          </a:xfrm>
          <a:prstGeom prst="rect">
            <a:avLst/>
          </a:prstGeom>
        </p:spPr>
      </p:pic>
    </p:spTree>
    <p:extLst>
      <p:ext uri="{BB962C8B-B14F-4D97-AF65-F5344CB8AC3E}">
        <p14:creationId xmlns:p14="http://schemas.microsoft.com/office/powerpoint/2010/main" val="958633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30AC3-50B7-A207-84EA-7F3D1AD945F9}"/>
              </a:ext>
            </a:extLst>
          </p:cNvPr>
          <p:cNvSpPr>
            <a:spLocks noGrp="1"/>
          </p:cNvSpPr>
          <p:nvPr>
            <p:ph type="title"/>
          </p:nvPr>
        </p:nvSpPr>
        <p:spPr/>
        <p:txBody>
          <a:bodyPr>
            <a:normAutofit/>
          </a:bodyPr>
          <a:lstStyle/>
          <a:p>
            <a:r>
              <a:rPr lang="en-US" sz="3600" dirty="0">
                <a:latin typeface="Montserrat" panose="00000500000000000000" pitchFamily="2" charset="0"/>
              </a:rPr>
              <a:t>BUSINESS RECOMMENDATIONS</a:t>
            </a:r>
          </a:p>
        </p:txBody>
      </p:sp>
      <p:sp>
        <p:nvSpPr>
          <p:cNvPr id="3" name="Content Placeholder 2">
            <a:extLst>
              <a:ext uri="{FF2B5EF4-FFF2-40B4-BE49-F238E27FC236}">
                <a16:creationId xmlns:a16="http://schemas.microsoft.com/office/drawing/2014/main" id="{18EE0B32-2178-B7F4-2E05-D4D7D386E0EB}"/>
              </a:ext>
            </a:extLst>
          </p:cNvPr>
          <p:cNvSpPr>
            <a:spLocks noGrp="1"/>
          </p:cNvSpPr>
          <p:nvPr>
            <p:ph idx="1"/>
          </p:nvPr>
        </p:nvSpPr>
        <p:spPr/>
        <p:txBody>
          <a:bodyPr/>
          <a:lstStyle/>
          <a:p>
            <a:pPr>
              <a:lnSpc>
                <a:spcPct val="150000"/>
              </a:lnSpc>
              <a:buFont typeface="Wingdings" panose="05000000000000000000" pitchFamily="2" charset="2"/>
              <a:buChar char="Ø"/>
            </a:pPr>
            <a:r>
              <a:rPr lang="en-US" dirty="0"/>
              <a:t>Reduce discounting on low-margin products</a:t>
            </a:r>
          </a:p>
          <a:p>
            <a:pPr>
              <a:lnSpc>
                <a:spcPct val="150000"/>
              </a:lnSpc>
              <a:buFont typeface="Wingdings" panose="05000000000000000000" pitchFamily="2" charset="2"/>
              <a:buChar char="Ø"/>
            </a:pPr>
            <a:r>
              <a:rPr lang="en-US" dirty="0"/>
              <a:t>Focus marketing campaigns on repeat customers</a:t>
            </a:r>
          </a:p>
          <a:p>
            <a:pPr>
              <a:lnSpc>
                <a:spcPct val="150000"/>
              </a:lnSpc>
              <a:buFont typeface="Wingdings" panose="05000000000000000000" pitchFamily="2" charset="2"/>
              <a:buChar char="Ø"/>
            </a:pPr>
            <a:r>
              <a:rPr lang="en-US" dirty="0"/>
              <a:t>Increase inventory for high-profit products</a:t>
            </a:r>
          </a:p>
          <a:p>
            <a:pPr>
              <a:lnSpc>
                <a:spcPct val="150000"/>
              </a:lnSpc>
              <a:buFont typeface="Wingdings" panose="05000000000000000000" pitchFamily="2" charset="2"/>
              <a:buChar char="Ø"/>
            </a:pPr>
            <a:r>
              <a:rPr lang="en-US" dirty="0"/>
              <a:t>Improve pricing strategy for low-profit categories</a:t>
            </a:r>
          </a:p>
          <a:p>
            <a:pPr>
              <a:lnSpc>
                <a:spcPct val="150000"/>
              </a:lnSpc>
              <a:buFont typeface="Wingdings" panose="05000000000000000000" pitchFamily="2" charset="2"/>
              <a:buChar char="Ø"/>
            </a:pPr>
            <a:r>
              <a:rPr lang="en-US" dirty="0"/>
              <a:t>Expand operations in high-profit regions</a:t>
            </a:r>
          </a:p>
          <a:p>
            <a:pPr>
              <a:lnSpc>
                <a:spcPct val="150000"/>
              </a:lnSpc>
              <a:buFont typeface="Wingdings" panose="05000000000000000000" pitchFamily="2" charset="2"/>
              <a:buChar char="Ø"/>
            </a:pPr>
            <a:r>
              <a:rPr lang="en-US" dirty="0"/>
              <a:t>Introduce loyalty programs for valuable customers</a:t>
            </a:r>
          </a:p>
        </p:txBody>
      </p:sp>
      <p:pic>
        <p:nvPicPr>
          <p:cNvPr id="11266" name="Picture 2" descr="Business goals achievement strategy planning target">
            <a:extLst>
              <a:ext uri="{FF2B5EF4-FFF2-40B4-BE49-F238E27FC236}">
                <a16:creationId xmlns:a16="http://schemas.microsoft.com/office/drawing/2014/main" id="{BF4712F5-E616-9C49-62B4-689F822F2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5818" y="0"/>
            <a:ext cx="2586182" cy="173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944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6467-37DA-E612-1C99-048E6237F47C}"/>
              </a:ext>
            </a:extLst>
          </p:cNvPr>
          <p:cNvSpPr>
            <a:spLocks noGrp="1"/>
          </p:cNvSpPr>
          <p:nvPr>
            <p:ph type="title"/>
          </p:nvPr>
        </p:nvSpPr>
        <p:spPr/>
        <p:txBody>
          <a:bodyPr>
            <a:normAutofit/>
          </a:bodyPr>
          <a:lstStyle/>
          <a:p>
            <a:pPr algn="ctr"/>
            <a:r>
              <a:rPr lang="en-US" sz="3600" dirty="0">
                <a:latin typeface="Montserrat" panose="00000500000000000000" pitchFamily="2" charset="0"/>
              </a:rPr>
              <a:t>CONCLUSION</a:t>
            </a:r>
          </a:p>
        </p:txBody>
      </p:sp>
      <p:sp>
        <p:nvSpPr>
          <p:cNvPr id="3" name="Content Placeholder 2">
            <a:extLst>
              <a:ext uri="{FF2B5EF4-FFF2-40B4-BE49-F238E27FC236}">
                <a16:creationId xmlns:a16="http://schemas.microsoft.com/office/drawing/2014/main" id="{6A4B377D-CCC1-5D24-5FBA-64CB44CF14A0}"/>
              </a:ext>
            </a:extLst>
          </p:cNvPr>
          <p:cNvSpPr>
            <a:spLocks noGrp="1"/>
          </p:cNvSpPr>
          <p:nvPr>
            <p:ph idx="1"/>
          </p:nvPr>
        </p:nvSpPr>
        <p:spPr/>
        <p:txBody>
          <a:bodyPr/>
          <a:lstStyle/>
          <a:p>
            <a:r>
              <a:rPr lang="en-US" dirty="0"/>
              <a:t>The project successfully transformed raw transactional data into meaningful business insights using Power BI. Interactive dashboards enabled monitoring of sales, profit, customers, and product performance in a single platform.</a:t>
            </a:r>
          </a:p>
          <a:p>
            <a:r>
              <a:rPr lang="en-US" dirty="0"/>
              <a:t>The analysis helped identify profitable products, valuable customers, and weak business areas.</a:t>
            </a:r>
            <a:br>
              <a:rPr lang="en-US" dirty="0"/>
            </a:br>
            <a:r>
              <a:rPr lang="en-US" dirty="0"/>
              <a:t>The dashboard can support management in data-driven decision-making and long-term strategic planning.</a:t>
            </a:r>
          </a:p>
          <a:p>
            <a:endParaRPr lang="en-US" dirty="0"/>
          </a:p>
        </p:txBody>
      </p:sp>
      <p:sp>
        <p:nvSpPr>
          <p:cNvPr id="4" name="AutoShape 2" descr="Team Work And Financial Figures With Improved Performance, Business,  Financial, Team Work PNG and Vector with Transparent Background for Free  Download">
            <a:extLst>
              <a:ext uri="{FF2B5EF4-FFF2-40B4-BE49-F238E27FC236}">
                <a16:creationId xmlns:a16="http://schemas.microsoft.com/office/drawing/2014/main" id="{3D87CC95-D8BA-0D0E-FF95-7E0D2BF2D4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8240164F-FA5E-D670-AD53-D2C5457B0F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4615" y="21025"/>
            <a:ext cx="2500223" cy="1716337"/>
          </a:xfrm>
          <a:prstGeom prst="rect">
            <a:avLst/>
          </a:prstGeom>
        </p:spPr>
      </p:pic>
    </p:spTree>
    <p:extLst>
      <p:ext uri="{BB962C8B-B14F-4D97-AF65-F5344CB8AC3E}">
        <p14:creationId xmlns:p14="http://schemas.microsoft.com/office/powerpoint/2010/main" val="2244431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5FA9-D682-C3F8-E7A3-F357F37FDA62}"/>
              </a:ext>
            </a:extLst>
          </p:cNvPr>
          <p:cNvSpPr>
            <a:spLocks noGrp="1"/>
          </p:cNvSpPr>
          <p:nvPr>
            <p:ph type="title"/>
          </p:nvPr>
        </p:nvSpPr>
        <p:spPr/>
        <p:txBody>
          <a:bodyPr>
            <a:normAutofit/>
          </a:bodyPr>
          <a:lstStyle/>
          <a:p>
            <a:pPr algn="ctr"/>
            <a:r>
              <a:rPr lang="en-US" sz="3600" dirty="0">
                <a:latin typeface="+mn-lt"/>
              </a:rPr>
              <a:t>Future Scope</a:t>
            </a:r>
          </a:p>
        </p:txBody>
      </p:sp>
      <p:sp>
        <p:nvSpPr>
          <p:cNvPr id="3" name="Content Placeholder 2">
            <a:extLst>
              <a:ext uri="{FF2B5EF4-FFF2-40B4-BE49-F238E27FC236}">
                <a16:creationId xmlns:a16="http://schemas.microsoft.com/office/drawing/2014/main" id="{9092C749-9809-47E1-2CF6-7BF5B3D505DA}"/>
              </a:ext>
            </a:extLst>
          </p:cNvPr>
          <p:cNvSpPr>
            <a:spLocks noGrp="1"/>
          </p:cNvSpPr>
          <p:nvPr>
            <p:ph idx="1"/>
          </p:nvPr>
        </p:nvSpPr>
        <p:spPr/>
        <p:txBody>
          <a:bodyPr/>
          <a:lstStyle/>
          <a:p>
            <a:pPr>
              <a:buFont typeface="Wingdings" panose="05000000000000000000" pitchFamily="2" charset="2"/>
              <a:buChar char="Ø"/>
            </a:pPr>
            <a:r>
              <a:rPr lang="en-US" dirty="0"/>
              <a:t>Sales forecasting using time-series analysis</a:t>
            </a:r>
          </a:p>
          <a:p>
            <a:pPr>
              <a:buFont typeface="Wingdings" panose="05000000000000000000" pitchFamily="2" charset="2"/>
              <a:buChar char="Ø"/>
            </a:pPr>
            <a:r>
              <a:rPr lang="en-US" dirty="0"/>
              <a:t>Customer churn prediction using machine learning</a:t>
            </a:r>
          </a:p>
          <a:p>
            <a:pPr>
              <a:buFont typeface="Wingdings" panose="05000000000000000000" pitchFamily="2" charset="2"/>
              <a:buChar char="Ø"/>
            </a:pPr>
            <a:r>
              <a:rPr lang="en-US" dirty="0"/>
              <a:t>Product recommendation system</a:t>
            </a:r>
          </a:p>
          <a:p>
            <a:pPr>
              <a:buFont typeface="Wingdings" panose="05000000000000000000" pitchFamily="2" charset="2"/>
              <a:buChar char="Ø"/>
            </a:pPr>
            <a:r>
              <a:rPr lang="en-US" dirty="0"/>
              <a:t>Automated reporting with real-time database integration</a:t>
            </a:r>
          </a:p>
          <a:p>
            <a:pPr>
              <a:buFont typeface="Wingdings" panose="05000000000000000000" pitchFamily="2" charset="2"/>
              <a:buChar char="Ø"/>
            </a:pPr>
            <a:r>
              <a:rPr lang="en-US" dirty="0"/>
              <a:t>Integration with cloud services</a:t>
            </a:r>
          </a:p>
        </p:txBody>
      </p:sp>
      <p:pic>
        <p:nvPicPr>
          <p:cNvPr id="12290" name="Picture 2" descr="Prediction Icon Showing Future Trends And Data Forecasting Concepts">
            <a:extLst>
              <a:ext uri="{FF2B5EF4-FFF2-40B4-BE49-F238E27FC236}">
                <a16:creationId xmlns:a16="http://schemas.microsoft.com/office/drawing/2014/main" id="{89A6815E-A2E2-2971-D1D5-0FD65C865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0544" y="0"/>
            <a:ext cx="2228273" cy="173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8406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223</TotalTime>
  <Words>1066</Words>
  <Application>Microsoft Office PowerPoint</Application>
  <PresentationFormat>Widescreen</PresentationFormat>
  <Paragraphs>113</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Algerian</vt:lpstr>
      <vt:lpstr>Arial</vt:lpstr>
      <vt:lpstr>Calibri</vt:lpstr>
      <vt:lpstr>Calibri </vt:lpstr>
      <vt:lpstr>Calibri Light</vt:lpstr>
      <vt:lpstr>Montserrat</vt:lpstr>
      <vt:lpstr>Segoe UI</vt:lpstr>
      <vt:lpstr>Wingdings</vt:lpstr>
      <vt:lpstr>Retrospect</vt:lpstr>
      <vt:lpstr>PowerPoint Presentation</vt:lpstr>
      <vt:lpstr>Introduction</vt:lpstr>
      <vt:lpstr>PROBLEM STATEMENT</vt:lpstr>
      <vt:lpstr>REQUIREMENT ANALYSIS</vt:lpstr>
      <vt:lpstr>DATASET DESCRIPTION</vt:lpstr>
      <vt:lpstr>METHODOLOGY</vt:lpstr>
      <vt:lpstr>DATA PREPARATION</vt:lpstr>
      <vt:lpstr>DATA MODELING</vt:lpstr>
      <vt:lpstr>KPI DEFINITIONS</vt:lpstr>
      <vt:lpstr>PowerPoint Presentation</vt:lpstr>
      <vt:lpstr>PowerPoint Presentation</vt:lpstr>
      <vt:lpstr>PowerPoint Presentation</vt:lpstr>
      <vt:lpstr>Product Performance &amp; Profitability Analysis</vt:lpstr>
      <vt:lpstr>PowerPoint Presentation</vt:lpstr>
      <vt:lpstr>CUSTOMER INSIGHTS DASHBOARD </vt:lpstr>
      <vt:lpstr>Key Insights from Analysis</vt:lpstr>
      <vt:lpstr>BUSINESS RECOMMENDATIONS</vt:lpstr>
      <vt:lpstr>CONCLUSION</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Jayesh Bacchav</dc:creator>
  <cp:lastModifiedBy>Jayesh Bacchav</cp:lastModifiedBy>
  <cp:revision>5</cp:revision>
  <dcterms:created xsi:type="dcterms:W3CDTF">2026-02-27T11:47:09Z</dcterms:created>
  <dcterms:modified xsi:type="dcterms:W3CDTF">2026-03-02T06:27:12Z</dcterms:modified>
</cp:coreProperties>
</file>